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</p:sldIdLst>
  <p:sldSz cx="30240288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53"/>
    <p:restoredTop sz="96098"/>
  </p:normalViewPr>
  <p:slideViewPr>
    <p:cSldViewPr snapToGrid="0">
      <p:cViewPr varScale="1">
        <p:scale>
          <a:sx n="29" d="100"/>
          <a:sy n="29" d="100"/>
        </p:scale>
        <p:origin x="13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3476208"/>
            <a:ext cx="25704245" cy="7394928"/>
          </a:xfrm>
        </p:spPr>
        <p:txBody>
          <a:bodyPr anchor="b"/>
          <a:lstStyle>
            <a:lvl1pPr algn="ctr">
              <a:defRPr sz="18583"/>
            </a:lvl1pPr>
          </a:lstStyle>
          <a:p>
            <a:r>
              <a:rPr lang="th-TH" dirty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11156312"/>
            <a:ext cx="22680216" cy="5128263"/>
          </a:xfrm>
        </p:spPr>
        <p:txBody>
          <a:bodyPr/>
          <a:lstStyle>
            <a:lvl1pPr marL="0" indent="0" algn="ctr">
              <a:buNone/>
              <a:defRPr sz="7433"/>
            </a:lvl1pPr>
            <a:lvl2pPr marL="1416040" indent="0" algn="ctr">
              <a:buNone/>
              <a:defRPr sz="6194"/>
            </a:lvl2pPr>
            <a:lvl3pPr marL="2832080" indent="0" algn="ctr">
              <a:buNone/>
              <a:defRPr sz="5575"/>
            </a:lvl3pPr>
            <a:lvl4pPr marL="4248120" indent="0" algn="ctr">
              <a:buNone/>
              <a:defRPr sz="4956"/>
            </a:lvl4pPr>
            <a:lvl5pPr marL="5664159" indent="0" algn="ctr">
              <a:buNone/>
              <a:defRPr sz="4956"/>
            </a:lvl5pPr>
            <a:lvl6pPr marL="7080199" indent="0" algn="ctr">
              <a:buNone/>
              <a:defRPr sz="4956"/>
            </a:lvl6pPr>
            <a:lvl7pPr marL="8496239" indent="0" algn="ctr">
              <a:buNone/>
              <a:defRPr sz="4956"/>
            </a:lvl7pPr>
            <a:lvl8pPr marL="9912279" indent="0" algn="ctr">
              <a:buNone/>
              <a:defRPr sz="4956"/>
            </a:lvl8pPr>
            <a:lvl9pPr marL="11328319" indent="0" algn="ctr">
              <a:buNone/>
              <a:defRPr sz="4956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104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629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5295443"/>
            <a:ext cx="26082248" cy="8835560"/>
          </a:xfrm>
        </p:spPr>
        <p:txBody>
          <a:bodyPr anchor="b"/>
          <a:lstStyle>
            <a:lvl1pPr>
              <a:defRPr sz="18583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14214591"/>
            <a:ext cx="26082248" cy="4646413"/>
          </a:xfrm>
        </p:spPr>
        <p:txBody>
          <a:bodyPr/>
          <a:lstStyle>
            <a:lvl1pPr marL="0" indent="0">
              <a:buNone/>
              <a:defRPr sz="7433">
                <a:solidFill>
                  <a:schemeClr val="tx1"/>
                </a:solidFill>
              </a:defRPr>
            </a:lvl1pPr>
            <a:lvl2pPr marL="1416040" indent="0">
              <a:buNone/>
              <a:defRPr sz="6194">
                <a:solidFill>
                  <a:schemeClr val="tx1">
                    <a:tint val="75000"/>
                  </a:schemeClr>
                </a:solidFill>
              </a:defRPr>
            </a:lvl2pPr>
            <a:lvl3pPr marL="2832080" indent="0">
              <a:buNone/>
              <a:defRPr sz="5575">
                <a:solidFill>
                  <a:schemeClr val="tx1">
                    <a:tint val="75000"/>
                  </a:schemeClr>
                </a:solidFill>
              </a:defRPr>
            </a:lvl3pPr>
            <a:lvl4pPr marL="4248120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4pPr>
            <a:lvl5pPr marL="566415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5pPr>
            <a:lvl6pPr marL="708019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6pPr>
            <a:lvl7pPr marL="849623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7pPr>
            <a:lvl8pPr marL="991227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8pPr>
            <a:lvl9pPr marL="1132831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6591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5654366"/>
            <a:ext cx="12852122" cy="1347706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5654366"/>
            <a:ext cx="12852122" cy="1347706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674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130878"/>
            <a:ext cx="26082248" cy="410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5206935"/>
            <a:ext cx="12793057" cy="2551839"/>
          </a:xfrm>
        </p:spPr>
        <p:txBody>
          <a:bodyPr anchor="b"/>
          <a:lstStyle>
            <a:lvl1pPr marL="0" indent="0">
              <a:buNone/>
              <a:defRPr sz="7433" b="1"/>
            </a:lvl1pPr>
            <a:lvl2pPr marL="1416040" indent="0">
              <a:buNone/>
              <a:defRPr sz="6194" b="1"/>
            </a:lvl2pPr>
            <a:lvl3pPr marL="2832080" indent="0">
              <a:buNone/>
              <a:defRPr sz="5575" b="1"/>
            </a:lvl3pPr>
            <a:lvl4pPr marL="4248120" indent="0">
              <a:buNone/>
              <a:defRPr sz="4956" b="1"/>
            </a:lvl4pPr>
            <a:lvl5pPr marL="5664159" indent="0">
              <a:buNone/>
              <a:defRPr sz="4956" b="1"/>
            </a:lvl5pPr>
            <a:lvl6pPr marL="7080199" indent="0">
              <a:buNone/>
              <a:defRPr sz="4956" b="1"/>
            </a:lvl6pPr>
            <a:lvl7pPr marL="8496239" indent="0">
              <a:buNone/>
              <a:defRPr sz="4956" b="1"/>
            </a:lvl7pPr>
            <a:lvl8pPr marL="9912279" indent="0">
              <a:buNone/>
              <a:defRPr sz="4956" b="1"/>
            </a:lvl8pPr>
            <a:lvl9pPr marL="11328319" indent="0">
              <a:buNone/>
              <a:defRPr sz="495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7758774"/>
            <a:ext cx="12793057" cy="114119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5206935"/>
            <a:ext cx="12856061" cy="2551839"/>
          </a:xfrm>
        </p:spPr>
        <p:txBody>
          <a:bodyPr anchor="b"/>
          <a:lstStyle>
            <a:lvl1pPr marL="0" indent="0">
              <a:buNone/>
              <a:defRPr sz="7433" b="1"/>
            </a:lvl1pPr>
            <a:lvl2pPr marL="1416040" indent="0">
              <a:buNone/>
              <a:defRPr sz="6194" b="1"/>
            </a:lvl2pPr>
            <a:lvl3pPr marL="2832080" indent="0">
              <a:buNone/>
              <a:defRPr sz="5575" b="1"/>
            </a:lvl3pPr>
            <a:lvl4pPr marL="4248120" indent="0">
              <a:buNone/>
              <a:defRPr sz="4956" b="1"/>
            </a:lvl4pPr>
            <a:lvl5pPr marL="5664159" indent="0">
              <a:buNone/>
              <a:defRPr sz="4956" b="1"/>
            </a:lvl5pPr>
            <a:lvl6pPr marL="7080199" indent="0">
              <a:buNone/>
              <a:defRPr sz="4956" b="1"/>
            </a:lvl6pPr>
            <a:lvl7pPr marL="8496239" indent="0">
              <a:buNone/>
              <a:defRPr sz="4956" b="1"/>
            </a:lvl7pPr>
            <a:lvl8pPr marL="9912279" indent="0">
              <a:buNone/>
              <a:defRPr sz="4956" b="1"/>
            </a:lvl8pPr>
            <a:lvl9pPr marL="11328319" indent="0">
              <a:buNone/>
              <a:defRPr sz="495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7758774"/>
            <a:ext cx="12856061" cy="114119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405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024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351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16050"/>
            <a:ext cx="9753280" cy="4956175"/>
          </a:xfrm>
        </p:spPr>
        <p:txBody>
          <a:bodyPr anchor="b"/>
          <a:lstStyle>
            <a:lvl1pPr>
              <a:defRPr sz="991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3058279"/>
            <a:ext cx="15309146" cy="15094700"/>
          </a:xfrm>
        </p:spPr>
        <p:txBody>
          <a:bodyPr/>
          <a:lstStyle>
            <a:lvl1pPr>
              <a:defRPr sz="9911"/>
            </a:lvl1pPr>
            <a:lvl2pPr>
              <a:defRPr sz="8672"/>
            </a:lvl2pPr>
            <a:lvl3pPr>
              <a:defRPr sz="7433"/>
            </a:lvl3pPr>
            <a:lvl4pPr>
              <a:defRPr sz="6194"/>
            </a:lvl4pPr>
            <a:lvl5pPr>
              <a:defRPr sz="6194"/>
            </a:lvl5pPr>
            <a:lvl6pPr>
              <a:defRPr sz="6194"/>
            </a:lvl6pPr>
            <a:lvl7pPr>
              <a:defRPr sz="6194"/>
            </a:lvl7pPr>
            <a:lvl8pPr>
              <a:defRPr sz="6194"/>
            </a:lvl8pPr>
            <a:lvl9pPr>
              <a:defRPr sz="6194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372225"/>
            <a:ext cx="9753280" cy="11805335"/>
          </a:xfrm>
        </p:spPr>
        <p:txBody>
          <a:bodyPr/>
          <a:lstStyle>
            <a:lvl1pPr marL="0" indent="0">
              <a:buNone/>
              <a:defRPr sz="4956"/>
            </a:lvl1pPr>
            <a:lvl2pPr marL="1416040" indent="0">
              <a:buNone/>
              <a:defRPr sz="4336"/>
            </a:lvl2pPr>
            <a:lvl3pPr marL="2832080" indent="0">
              <a:buNone/>
              <a:defRPr sz="3717"/>
            </a:lvl3pPr>
            <a:lvl4pPr marL="4248120" indent="0">
              <a:buNone/>
              <a:defRPr sz="3097"/>
            </a:lvl4pPr>
            <a:lvl5pPr marL="5664159" indent="0">
              <a:buNone/>
              <a:defRPr sz="3097"/>
            </a:lvl5pPr>
            <a:lvl6pPr marL="7080199" indent="0">
              <a:buNone/>
              <a:defRPr sz="3097"/>
            </a:lvl6pPr>
            <a:lvl7pPr marL="8496239" indent="0">
              <a:buNone/>
              <a:defRPr sz="3097"/>
            </a:lvl7pPr>
            <a:lvl8pPr marL="9912279" indent="0">
              <a:buNone/>
              <a:defRPr sz="3097"/>
            </a:lvl8pPr>
            <a:lvl9pPr marL="11328319" indent="0">
              <a:buNone/>
              <a:defRPr sz="309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130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16050"/>
            <a:ext cx="9753280" cy="4956175"/>
          </a:xfrm>
        </p:spPr>
        <p:txBody>
          <a:bodyPr anchor="b"/>
          <a:lstStyle>
            <a:lvl1pPr>
              <a:defRPr sz="991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3058279"/>
            <a:ext cx="15309146" cy="15094700"/>
          </a:xfrm>
        </p:spPr>
        <p:txBody>
          <a:bodyPr anchor="t"/>
          <a:lstStyle>
            <a:lvl1pPr marL="0" indent="0">
              <a:buNone/>
              <a:defRPr sz="9911"/>
            </a:lvl1pPr>
            <a:lvl2pPr marL="1416040" indent="0">
              <a:buNone/>
              <a:defRPr sz="8672"/>
            </a:lvl2pPr>
            <a:lvl3pPr marL="2832080" indent="0">
              <a:buNone/>
              <a:defRPr sz="7433"/>
            </a:lvl3pPr>
            <a:lvl4pPr marL="4248120" indent="0">
              <a:buNone/>
              <a:defRPr sz="6194"/>
            </a:lvl4pPr>
            <a:lvl5pPr marL="5664159" indent="0">
              <a:buNone/>
              <a:defRPr sz="6194"/>
            </a:lvl5pPr>
            <a:lvl6pPr marL="7080199" indent="0">
              <a:buNone/>
              <a:defRPr sz="6194"/>
            </a:lvl6pPr>
            <a:lvl7pPr marL="8496239" indent="0">
              <a:buNone/>
              <a:defRPr sz="6194"/>
            </a:lvl7pPr>
            <a:lvl8pPr marL="9912279" indent="0">
              <a:buNone/>
              <a:defRPr sz="6194"/>
            </a:lvl8pPr>
            <a:lvl9pPr marL="11328319" indent="0">
              <a:buNone/>
              <a:defRPr sz="6194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372225"/>
            <a:ext cx="9753280" cy="11805335"/>
          </a:xfrm>
        </p:spPr>
        <p:txBody>
          <a:bodyPr/>
          <a:lstStyle>
            <a:lvl1pPr marL="0" indent="0">
              <a:buNone/>
              <a:defRPr sz="4956"/>
            </a:lvl1pPr>
            <a:lvl2pPr marL="1416040" indent="0">
              <a:buNone/>
              <a:defRPr sz="4336"/>
            </a:lvl2pPr>
            <a:lvl3pPr marL="2832080" indent="0">
              <a:buNone/>
              <a:defRPr sz="3717"/>
            </a:lvl3pPr>
            <a:lvl4pPr marL="4248120" indent="0">
              <a:buNone/>
              <a:defRPr sz="3097"/>
            </a:lvl4pPr>
            <a:lvl5pPr marL="5664159" indent="0">
              <a:buNone/>
              <a:defRPr sz="3097"/>
            </a:lvl5pPr>
            <a:lvl6pPr marL="7080199" indent="0">
              <a:buNone/>
              <a:defRPr sz="3097"/>
            </a:lvl6pPr>
            <a:lvl7pPr marL="8496239" indent="0">
              <a:buNone/>
              <a:defRPr sz="3097"/>
            </a:lvl7pPr>
            <a:lvl8pPr marL="9912279" indent="0">
              <a:buNone/>
              <a:defRPr sz="3097"/>
            </a:lvl8pPr>
            <a:lvl9pPr marL="11328319" indent="0">
              <a:buNone/>
              <a:defRPr sz="309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20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414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1130873"/>
            <a:ext cx="6520562" cy="18000554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1130873"/>
            <a:ext cx="19183683" cy="18000554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08/02/69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7298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7" descr="รูปภาพประกอบด้วย ภาพหน้าจอ, คอมพิวเตอร์, สี่เหลี่ยมผืนผ้า, ข้อความ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0572B02-58D4-DDE6-2252-D9BD9844984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" y="-41572"/>
            <a:ext cx="30193542" cy="2131532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1130878"/>
            <a:ext cx="26082248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dirty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5654366"/>
            <a:ext cx="26082248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dirty="0"/>
              <a:t>คลิกเพื่อแก้ไขสไตล์ของข้อความต้นแบบ</a:t>
            </a:r>
          </a:p>
          <a:p>
            <a:pPr lvl="1"/>
            <a:r>
              <a:rPr lang="th-TH" dirty="0"/>
              <a:t>ระดับที่สอง</a:t>
            </a:r>
          </a:p>
          <a:p>
            <a:pPr lvl="2"/>
            <a:r>
              <a:rPr lang="th-TH" dirty="0"/>
              <a:t>ระดับที่สาม</a:t>
            </a:r>
          </a:p>
          <a:p>
            <a:pPr lvl="3"/>
            <a:r>
              <a:rPr lang="th-TH" dirty="0"/>
              <a:t>ระดับที่สี่</a:t>
            </a:r>
          </a:p>
          <a:p>
            <a:pPr lvl="4"/>
            <a:r>
              <a:rPr lang="th-TH" dirty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19687033"/>
            <a:ext cx="680406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fld id="{69C552E4-3F55-3F49-ACFC-8D09D04B75A7}" type="datetimeFigureOut">
              <a:rPr lang="th-TH" smtClean="0"/>
              <a:pPr/>
              <a:t>08/02/69</a:t>
            </a:fld>
            <a:endParaRPr lang="th-T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19687033"/>
            <a:ext cx="10206097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19687033"/>
            <a:ext cx="680406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fld id="{401D74E7-5C61-B541-B4BD-E853D14C771B}" type="slidenum">
              <a:rPr lang="th-TH" smtClean="0"/>
              <a:pPr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45159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32080" rtl="0" eaLnBrk="1" latinLnBrk="0" hangingPunct="1">
        <a:lnSpc>
          <a:spcPct val="90000"/>
        </a:lnSpc>
        <a:spcBef>
          <a:spcPct val="0"/>
        </a:spcBef>
        <a:buNone/>
        <a:defRPr sz="13628" kern="1200">
          <a:solidFill>
            <a:schemeClr val="tx1"/>
          </a:solidFill>
          <a:latin typeface="DB Heavent" panose="02000506060000020004" pitchFamily="2" charset="-34"/>
          <a:ea typeface="+mj-ea"/>
          <a:cs typeface="DB Heavent" panose="02000506060000020004" pitchFamily="2" charset="-34"/>
        </a:defRPr>
      </a:lvl1pPr>
    </p:titleStyle>
    <p:bodyStyle>
      <a:lvl1pPr marL="708020" indent="-708020" algn="l" defTabSz="2832080" rtl="0" eaLnBrk="1" latinLnBrk="0" hangingPunct="1">
        <a:lnSpc>
          <a:spcPct val="90000"/>
        </a:lnSpc>
        <a:spcBef>
          <a:spcPts val="3097"/>
        </a:spcBef>
        <a:buFont typeface="Arial" panose="020B0604020202020204" pitchFamily="34" charset="0"/>
        <a:buChar char="•"/>
        <a:defRPr sz="8672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1pPr>
      <a:lvl2pPr marL="2124060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7433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2pPr>
      <a:lvl3pPr marL="3540100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6194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3pPr>
      <a:lvl4pPr marL="495613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4pPr>
      <a:lvl5pPr marL="637217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5pPr>
      <a:lvl6pPr marL="778821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6pPr>
      <a:lvl7pPr marL="920425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7pPr>
      <a:lvl8pPr marL="1062029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8pPr>
      <a:lvl9pPr marL="1203633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1pPr>
      <a:lvl2pPr marL="141604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2pPr>
      <a:lvl3pPr marL="283208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3pPr>
      <a:lvl4pPr marL="424812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4pPr>
      <a:lvl5pPr marL="566415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5pPr>
      <a:lvl6pPr marL="708019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6pPr>
      <a:lvl7pPr marL="849623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7pPr>
      <a:lvl8pPr marL="991227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8pPr>
      <a:lvl9pPr marL="1132831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940DAB-FF39-4E79-FE40-D8C2FED7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525" y="7237453"/>
            <a:ext cx="13312665" cy="7928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2FEA5-3B8E-1C18-A9B5-2FEBB627FADB}"/>
              </a:ext>
            </a:extLst>
          </p:cNvPr>
          <p:cNvSpPr txBox="1"/>
          <p:nvPr/>
        </p:nvSpPr>
        <p:spPr>
          <a:xfrm>
            <a:off x="1559860" y="3747729"/>
            <a:ext cx="139227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Abstraction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care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is a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foundational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form of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altruism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yet the mechanisms by which prosocial strategies emerge and persist remain unclear. This thesis proposes a computational framework that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integrates physiological, psychological, and neuroendocrine-inspired internal states dynamics within an evolutionary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investigate the emergence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“maternal altruism”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.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Mother agents operate through a hierarchical cascade from genetic traits -&gt; perception -&gt; internal state modulation -&gt; motivation -&gt; action, in which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bond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strength regulates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stimulus interpretation through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allostatic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control. Child agents are immobile and communicate exclusively via distance-dependent distress signals, creating an asymmetric caregiving dynamic. Using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spatial grid-world simulations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with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multiple family units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mothers inherit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genetically encoded traits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(altruism, kin bias, nurture threshold, threat sensitivity), and populations evolve under varying levels of resource availability, predation pressure, and population density.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B451F-1E1A-9442-F255-771C80D6709B}"/>
              </a:ext>
            </a:extLst>
          </p:cNvPr>
          <p:cNvSpPr txBox="1"/>
          <p:nvPr/>
        </p:nvSpPr>
        <p:spPr>
          <a:xfrm>
            <a:off x="1559859" y="2178069"/>
            <a:ext cx="12944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Simulation of “</a:t>
            </a:r>
            <a:r>
              <a:rPr lang="en-US" sz="9600" b="1" i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Instinct”</a:t>
            </a:r>
            <a:endParaRPr lang="en-US" sz="9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3559D-761B-F943-9C10-B404BD6F78A1}"/>
              </a:ext>
            </a:extLst>
          </p:cNvPr>
          <p:cNvSpPr txBox="1"/>
          <p:nvPr/>
        </p:nvSpPr>
        <p:spPr>
          <a:xfrm>
            <a:off x="8032191" y="664493"/>
            <a:ext cx="18924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Author : Napat </a:t>
            </a:r>
            <a:r>
              <a:rPr lang="en-US" sz="4800" b="1" dirty="0" err="1">
                <a:latin typeface="DB Heavent" panose="02000506060000020004" pitchFamily="2" charset="-34"/>
                <a:cs typeface="DB Heavent" panose="02000506060000020004" pitchFamily="2" charset="-34"/>
              </a:rPr>
              <a:t>Aeimwiratchai</a:t>
            </a:r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		|	Email : napat.aeim@gmail.com 	|	Tel : 088-871-5110</a:t>
            </a:r>
          </a:p>
          <a:p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Advisor : Mr.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Bawornsak</a:t>
            </a:r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Sakulkueakulsuk</a:t>
            </a:r>
            <a:endParaRPr lang="en-US" sz="48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1CF963-7925-9902-9281-50B1F32653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107" t="12596" b="32607"/>
          <a:stretch>
            <a:fillRect/>
          </a:stretch>
        </p:blipFill>
        <p:spPr>
          <a:xfrm>
            <a:off x="8032191" y="17993509"/>
            <a:ext cx="3163939" cy="2208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BBE4C0-DE37-ED7D-3886-D585EA77C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38" y="13350358"/>
            <a:ext cx="14452710" cy="5747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E39094-B29D-285E-F47F-09F039A24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5895" y="2653725"/>
            <a:ext cx="10869877" cy="43831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F4747-98D0-03B8-76BF-4B8F1707C605}"/>
              </a:ext>
            </a:extLst>
          </p:cNvPr>
          <p:cNvSpPr txBox="1"/>
          <p:nvPr/>
        </p:nvSpPr>
        <p:spPr>
          <a:xfrm>
            <a:off x="1559859" y="10765035"/>
            <a:ext cx="139227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Objectives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develop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evolutionary 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that integrates physiological, psychological, and neuroendocrine-inspired states to explain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how maternal altruistic caregiving emerges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persists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environmental pressures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06BD-4F39-7B06-EFE3-BCB01E4B2430}"/>
              </a:ext>
            </a:extLst>
          </p:cNvPr>
          <p:cNvSpPr txBox="1"/>
          <p:nvPr/>
        </p:nvSpPr>
        <p:spPr>
          <a:xfrm>
            <a:off x="16177847" y="6944573"/>
            <a:ext cx="3556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Methodology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C958C-635D-135A-CC58-D3E69218D916}"/>
              </a:ext>
            </a:extLst>
          </p:cNvPr>
          <p:cNvSpPr txBox="1"/>
          <p:nvPr/>
        </p:nvSpPr>
        <p:spPr>
          <a:xfrm>
            <a:off x="15611525" y="15166165"/>
            <a:ext cx="13068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Current Progress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Implemented a mother &amp; child agent architecture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with coupled physiological, psychological, and neuroendocrine states,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validated adaptive motivation switching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(Protect child, Care, Forage, Self-preservation)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varying threat and resource conditions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4BB7D6-6E22-DE88-3A9B-9C97260713E0}"/>
              </a:ext>
            </a:extLst>
          </p:cNvPr>
          <p:cNvSpPr txBox="1"/>
          <p:nvPr/>
        </p:nvSpPr>
        <p:spPr>
          <a:xfrm>
            <a:off x="15611525" y="17751488"/>
            <a:ext cx="13068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Next Steps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Extend simulations across generations to quantitatively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 the evolutionary stability of maternal caregiving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strategies under varying environmental pressures.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5D17DD-ACD9-5BD7-52A4-BEB9EA889566}"/>
              </a:ext>
            </a:extLst>
          </p:cNvPr>
          <p:cNvSpPr txBox="1"/>
          <p:nvPr/>
        </p:nvSpPr>
        <p:spPr>
          <a:xfrm>
            <a:off x="16177847" y="2178069"/>
            <a:ext cx="8745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Organism’s Motivation selection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01239076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0B610FB1ED904D8E4E2030520903CD" ma:contentTypeVersion="17" ma:contentTypeDescription="Create a new document." ma:contentTypeScope="" ma:versionID="c4ee274d10bea4f1083c5ab3f4575349">
  <xsd:schema xmlns:xsd="http://www.w3.org/2001/XMLSchema" xmlns:xs="http://www.w3.org/2001/XMLSchema" xmlns:p="http://schemas.microsoft.com/office/2006/metadata/properties" xmlns:ns2="ed5a5cbc-fde1-4d80-8810-b7e22e5513a0" xmlns:ns3="e2250ebc-9c98-4097-8fc2-6468819c889e" targetNamespace="http://schemas.microsoft.com/office/2006/metadata/properties" ma:root="true" ma:fieldsID="0f9c69bd5e5ac2fc85b3283de8c01e72" ns2:_="" ns3:_="">
    <xsd:import namespace="ed5a5cbc-fde1-4d80-8810-b7e22e5513a0"/>
    <xsd:import namespace="e2250ebc-9c98-4097-8fc2-6468819c88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a5cbc-fde1-4d80-8810-b7e22e5513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_Flow_SignoffStatus" ma:index="17" nillable="true" ma:displayName="สถานะการปิดงาน" ma:internalName="_x0e2a__x0e16__x0e32__x0e19__x0e30__x0e01__x0e32__x0e23__x0e1b__x0e34__x0e14__x0e07__x0e32__x0e19_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5a6edc0-792c-424b-9cdf-c7b9dae50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50ebc-9c98-4097-8fc2-6468819c889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c386f31-5080-4e93-993e-4bab79935afc}" ma:internalName="TaxCatchAll" ma:showField="CatchAllData" ma:web="e2250ebc-9c98-4097-8fc2-6468819c88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5a5cbc-fde1-4d80-8810-b7e22e5513a0">
      <Terms xmlns="http://schemas.microsoft.com/office/infopath/2007/PartnerControls"/>
    </lcf76f155ced4ddcb4097134ff3c332f>
    <TaxCatchAll xmlns="e2250ebc-9c98-4097-8fc2-6468819c889e" xsi:nil="true"/>
    <_Flow_SignoffStatus xmlns="ed5a5cbc-fde1-4d80-8810-b7e22e5513a0" xsi:nil="true"/>
  </documentManagement>
</p:properties>
</file>

<file path=customXml/itemProps1.xml><?xml version="1.0" encoding="utf-8"?>
<ds:datastoreItem xmlns:ds="http://schemas.openxmlformats.org/officeDocument/2006/customXml" ds:itemID="{6E178000-8BD7-460F-BBF6-5E7D8A9CC6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a5cbc-fde1-4d80-8810-b7e22e5513a0"/>
    <ds:schemaRef ds:uri="e2250ebc-9c98-4097-8fc2-6468819c88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A7F012-0E0F-4CA2-A969-F17BE706A2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37BAD3-F7AD-47C4-8CC8-4F313BBCBB8C}">
  <ds:schemaRefs>
    <ds:schemaRef ds:uri="http://schemas.microsoft.com/office/2006/metadata/properties"/>
    <ds:schemaRef ds:uri="http://schemas.microsoft.com/office/infopath/2007/PartnerControls"/>
    <ds:schemaRef ds:uri="ed5a5cbc-fde1-4d80-8810-b7e22e5513a0"/>
    <ds:schemaRef ds:uri="e2250ebc-9c98-4097-8fc2-6468819c889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</TotalTime>
  <Words>280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DB Heavent</vt:lpstr>
      <vt:lpstr>ธีมของ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jariya sangpech</dc:creator>
  <cp:lastModifiedBy>Fu Aeim</cp:lastModifiedBy>
  <cp:revision>7</cp:revision>
  <dcterms:created xsi:type="dcterms:W3CDTF">2023-11-22T08:51:41Z</dcterms:created>
  <dcterms:modified xsi:type="dcterms:W3CDTF">2026-02-08T18:40:34Z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0x010100200B610FB1ED904D8E4E2030520903CD</vt:lpwstr>
  </property>
</Properties>
</file>