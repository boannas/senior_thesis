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8" r:id="rId6"/>
    <p:sldId id="257" r:id="rId7"/>
  </p:sldIdLst>
  <p:sldSz cx="30240288" cy="21240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53"/>
    <p:restoredTop sz="96098"/>
  </p:normalViewPr>
  <p:slideViewPr>
    <p:cSldViewPr snapToGrid="0">
      <p:cViewPr>
        <p:scale>
          <a:sx n="33" d="100"/>
          <a:sy n="33" d="100"/>
        </p:scale>
        <p:origin x="2016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3476208"/>
            <a:ext cx="25704245" cy="7394928"/>
          </a:xfrm>
        </p:spPr>
        <p:txBody>
          <a:bodyPr anchor="b"/>
          <a:lstStyle>
            <a:lvl1pPr algn="ctr">
              <a:defRPr sz="18583"/>
            </a:lvl1pPr>
          </a:lstStyle>
          <a:p>
            <a:r>
              <a:rPr lang="th-TH" dirty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11156312"/>
            <a:ext cx="22680216" cy="5128263"/>
          </a:xfrm>
        </p:spPr>
        <p:txBody>
          <a:bodyPr/>
          <a:lstStyle>
            <a:lvl1pPr marL="0" indent="0" algn="ctr">
              <a:buNone/>
              <a:defRPr sz="7433"/>
            </a:lvl1pPr>
            <a:lvl2pPr marL="1416040" indent="0" algn="ctr">
              <a:buNone/>
              <a:defRPr sz="6194"/>
            </a:lvl2pPr>
            <a:lvl3pPr marL="2832080" indent="0" algn="ctr">
              <a:buNone/>
              <a:defRPr sz="5575"/>
            </a:lvl3pPr>
            <a:lvl4pPr marL="4248120" indent="0" algn="ctr">
              <a:buNone/>
              <a:defRPr sz="4956"/>
            </a:lvl4pPr>
            <a:lvl5pPr marL="5664159" indent="0" algn="ctr">
              <a:buNone/>
              <a:defRPr sz="4956"/>
            </a:lvl5pPr>
            <a:lvl6pPr marL="7080199" indent="0" algn="ctr">
              <a:buNone/>
              <a:defRPr sz="4956"/>
            </a:lvl6pPr>
            <a:lvl7pPr marL="8496239" indent="0" algn="ctr">
              <a:buNone/>
              <a:defRPr sz="4956"/>
            </a:lvl7pPr>
            <a:lvl8pPr marL="9912279" indent="0" algn="ctr">
              <a:buNone/>
              <a:defRPr sz="4956"/>
            </a:lvl8pPr>
            <a:lvl9pPr marL="11328319" indent="0" algn="ctr">
              <a:buNone/>
              <a:defRPr sz="4956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09/02/69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7104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09/02/69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4629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5295443"/>
            <a:ext cx="26082248" cy="8835560"/>
          </a:xfrm>
        </p:spPr>
        <p:txBody>
          <a:bodyPr anchor="b"/>
          <a:lstStyle>
            <a:lvl1pPr>
              <a:defRPr sz="18583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14214591"/>
            <a:ext cx="26082248" cy="4646413"/>
          </a:xfrm>
        </p:spPr>
        <p:txBody>
          <a:bodyPr/>
          <a:lstStyle>
            <a:lvl1pPr marL="0" indent="0">
              <a:buNone/>
              <a:defRPr sz="7433">
                <a:solidFill>
                  <a:schemeClr val="tx1"/>
                </a:solidFill>
              </a:defRPr>
            </a:lvl1pPr>
            <a:lvl2pPr marL="1416040" indent="0">
              <a:buNone/>
              <a:defRPr sz="6194">
                <a:solidFill>
                  <a:schemeClr val="tx1">
                    <a:tint val="75000"/>
                  </a:schemeClr>
                </a:solidFill>
              </a:defRPr>
            </a:lvl2pPr>
            <a:lvl3pPr marL="2832080" indent="0">
              <a:buNone/>
              <a:defRPr sz="5575">
                <a:solidFill>
                  <a:schemeClr val="tx1">
                    <a:tint val="75000"/>
                  </a:schemeClr>
                </a:solidFill>
              </a:defRPr>
            </a:lvl3pPr>
            <a:lvl4pPr marL="4248120" indent="0">
              <a:buNone/>
              <a:defRPr sz="4956">
                <a:solidFill>
                  <a:schemeClr val="tx1">
                    <a:tint val="75000"/>
                  </a:schemeClr>
                </a:solidFill>
              </a:defRPr>
            </a:lvl4pPr>
            <a:lvl5pPr marL="5664159" indent="0">
              <a:buNone/>
              <a:defRPr sz="4956">
                <a:solidFill>
                  <a:schemeClr val="tx1">
                    <a:tint val="75000"/>
                  </a:schemeClr>
                </a:solidFill>
              </a:defRPr>
            </a:lvl5pPr>
            <a:lvl6pPr marL="7080199" indent="0">
              <a:buNone/>
              <a:defRPr sz="4956">
                <a:solidFill>
                  <a:schemeClr val="tx1">
                    <a:tint val="75000"/>
                  </a:schemeClr>
                </a:solidFill>
              </a:defRPr>
            </a:lvl6pPr>
            <a:lvl7pPr marL="8496239" indent="0">
              <a:buNone/>
              <a:defRPr sz="4956">
                <a:solidFill>
                  <a:schemeClr val="tx1">
                    <a:tint val="75000"/>
                  </a:schemeClr>
                </a:solidFill>
              </a:defRPr>
            </a:lvl7pPr>
            <a:lvl8pPr marL="9912279" indent="0">
              <a:buNone/>
              <a:defRPr sz="4956">
                <a:solidFill>
                  <a:schemeClr val="tx1">
                    <a:tint val="75000"/>
                  </a:schemeClr>
                </a:solidFill>
              </a:defRPr>
            </a:lvl8pPr>
            <a:lvl9pPr marL="11328319" indent="0">
              <a:buNone/>
              <a:defRPr sz="49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09/02/69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6591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5654366"/>
            <a:ext cx="12852122" cy="13477061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5654366"/>
            <a:ext cx="12852122" cy="13477061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09/02/69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6744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130878"/>
            <a:ext cx="26082248" cy="410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5206935"/>
            <a:ext cx="12793057" cy="2551839"/>
          </a:xfrm>
        </p:spPr>
        <p:txBody>
          <a:bodyPr anchor="b"/>
          <a:lstStyle>
            <a:lvl1pPr marL="0" indent="0">
              <a:buNone/>
              <a:defRPr sz="7433" b="1"/>
            </a:lvl1pPr>
            <a:lvl2pPr marL="1416040" indent="0">
              <a:buNone/>
              <a:defRPr sz="6194" b="1"/>
            </a:lvl2pPr>
            <a:lvl3pPr marL="2832080" indent="0">
              <a:buNone/>
              <a:defRPr sz="5575" b="1"/>
            </a:lvl3pPr>
            <a:lvl4pPr marL="4248120" indent="0">
              <a:buNone/>
              <a:defRPr sz="4956" b="1"/>
            </a:lvl4pPr>
            <a:lvl5pPr marL="5664159" indent="0">
              <a:buNone/>
              <a:defRPr sz="4956" b="1"/>
            </a:lvl5pPr>
            <a:lvl6pPr marL="7080199" indent="0">
              <a:buNone/>
              <a:defRPr sz="4956" b="1"/>
            </a:lvl6pPr>
            <a:lvl7pPr marL="8496239" indent="0">
              <a:buNone/>
              <a:defRPr sz="4956" b="1"/>
            </a:lvl7pPr>
            <a:lvl8pPr marL="9912279" indent="0">
              <a:buNone/>
              <a:defRPr sz="4956" b="1"/>
            </a:lvl8pPr>
            <a:lvl9pPr marL="11328319" indent="0">
              <a:buNone/>
              <a:defRPr sz="4956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7758774"/>
            <a:ext cx="12793057" cy="114119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5206935"/>
            <a:ext cx="12856061" cy="2551839"/>
          </a:xfrm>
        </p:spPr>
        <p:txBody>
          <a:bodyPr anchor="b"/>
          <a:lstStyle>
            <a:lvl1pPr marL="0" indent="0">
              <a:buNone/>
              <a:defRPr sz="7433" b="1"/>
            </a:lvl1pPr>
            <a:lvl2pPr marL="1416040" indent="0">
              <a:buNone/>
              <a:defRPr sz="6194" b="1"/>
            </a:lvl2pPr>
            <a:lvl3pPr marL="2832080" indent="0">
              <a:buNone/>
              <a:defRPr sz="5575" b="1"/>
            </a:lvl3pPr>
            <a:lvl4pPr marL="4248120" indent="0">
              <a:buNone/>
              <a:defRPr sz="4956" b="1"/>
            </a:lvl4pPr>
            <a:lvl5pPr marL="5664159" indent="0">
              <a:buNone/>
              <a:defRPr sz="4956" b="1"/>
            </a:lvl5pPr>
            <a:lvl6pPr marL="7080199" indent="0">
              <a:buNone/>
              <a:defRPr sz="4956" b="1"/>
            </a:lvl6pPr>
            <a:lvl7pPr marL="8496239" indent="0">
              <a:buNone/>
              <a:defRPr sz="4956" b="1"/>
            </a:lvl7pPr>
            <a:lvl8pPr marL="9912279" indent="0">
              <a:buNone/>
              <a:defRPr sz="4956" b="1"/>
            </a:lvl8pPr>
            <a:lvl9pPr marL="11328319" indent="0">
              <a:buNone/>
              <a:defRPr sz="4956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7758774"/>
            <a:ext cx="12856061" cy="114119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09/02/69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9405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09/02/69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2024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09/02/69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1351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416050"/>
            <a:ext cx="9753280" cy="4956175"/>
          </a:xfrm>
        </p:spPr>
        <p:txBody>
          <a:bodyPr anchor="b"/>
          <a:lstStyle>
            <a:lvl1pPr>
              <a:defRPr sz="9911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3058279"/>
            <a:ext cx="15309146" cy="15094700"/>
          </a:xfrm>
        </p:spPr>
        <p:txBody>
          <a:bodyPr/>
          <a:lstStyle>
            <a:lvl1pPr>
              <a:defRPr sz="9911"/>
            </a:lvl1pPr>
            <a:lvl2pPr>
              <a:defRPr sz="8672"/>
            </a:lvl2pPr>
            <a:lvl3pPr>
              <a:defRPr sz="7433"/>
            </a:lvl3pPr>
            <a:lvl4pPr>
              <a:defRPr sz="6194"/>
            </a:lvl4pPr>
            <a:lvl5pPr>
              <a:defRPr sz="6194"/>
            </a:lvl5pPr>
            <a:lvl6pPr>
              <a:defRPr sz="6194"/>
            </a:lvl6pPr>
            <a:lvl7pPr>
              <a:defRPr sz="6194"/>
            </a:lvl7pPr>
            <a:lvl8pPr>
              <a:defRPr sz="6194"/>
            </a:lvl8pPr>
            <a:lvl9pPr>
              <a:defRPr sz="6194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6372225"/>
            <a:ext cx="9753280" cy="11805335"/>
          </a:xfrm>
        </p:spPr>
        <p:txBody>
          <a:bodyPr/>
          <a:lstStyle>
            <a:lvl1pPr marL="0" indent="0">
              <a:buNone/>
              <a:defRPr sz="4956"/>
            </a:lvl1pPr>
            <a:lvl2pPr marL="1416040" indent="0">
              <a:buNone/>
              <a:defRPr sz="4336"/>
            </a:lvl2pPr>
            <a:lvl3pPr marL="2832080" indent="0">
              <a:buNone/>
              <a:defRPr sz="3717"/>
            </a:lvl3pPr>
            <a:lvl4pPr marL="4248120" indent="0">
              <a:buNone/>
              <a:defRPr sz="3097"/>
            </a:lvl4pPr>
            <a:lvl5pPr marL="5664159" indent="0">
              <a:buNone/>
              <a:defRPr sz="3097"/>
            </a:lvl5pPr>
            <a:lvl6pPr marL="7080199" indent="0">
              <a:buNone/>
              <a:defRPr sz="3097"/>
            </a:lvl6pPr>
            <a:lvl7pPr marL="8496239" indent="0">
              <a:buNone/>
              <a:defRPr sz="3097"/>
            </a:lvl7pPr>
            <a:lvl8pPr marL="9912279" indent="0">
              <a:buNone/>
              <a:defRPr sz="3097"/>
            </a:lvl8pPr>
            <a:lvl9pPr marL="11328319" indent="0">
              <a:buNone/>
              <a:defRPr sz="3097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09/02/69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81303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416050"/>
            <a:ext cx="9753280" cy="4956175"/>
          </a:xfrm>
        </p:spPr>
        <p:txBody>
          <a:bodyPr anchor="b"/>
          <a:lstStyle>
            <a:lvl1pPr>
              <a:defRPr sz="9911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3058279"/>
            <a:ext cx="15309146" cy="15094700"/>
          </a:xfrm>
        </p:spPr>
        <p:txBody>
          <a:bodyPr anchor="t"/>
          <a:lstStyle>
            <a:lvl1pPr marL="0" indent="0">
              <a:buNone/>
              <a:defRPr sz="9911"/>
            </a:lvl1pPr>
            <a:lvl2pPr marL="1416040" indent="0">
              <a:buNone/>
              <a:defRPr sz="8672"/>
            </a:lvl2pPr>
            <a:lvl3pPr marL="2832080" indent="0">
              <a:buNone/>
              <a:defRPr sz="7433"/>
            </a:lvl3pPr>
            <a:lvl4pPr marL="4248120" indent="0">
              <a:buNone/>
              <a:defRPr sz="6194"/>
            </a:lvl4pPr>
            <a:lvl5pPr marL="5664159" indent="0">
              <a:buNone/>
              <a:defRPr sz="6194"/>
            </a:lvl5pPr>
            <a:lvl6pPr marL="7080199" indent="0">
              <a:buNone/>
              <a:defRPr sz="6194"/>
            </a:lvl6pPr>
            <a:lvl7pPr marL="8496239" indent="0">
              <a:buNone/>
              <a:defRPr sz="6194"/>
            </a:lvl7pPr>
            <a:lvl8pPr marL="9912279" indent="0">
              <a:buNone/>
              <a:defRPr sz="6194"/>
            </a:lvl8pPr>
            <a:lvl9pPr marL="11328319" indent="0">
              <a:buNone/>
              <a:defRPr sz="6194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6372225"/>
            <a:ext cx="9753280" cy="11805335"/>
          </a:xfrm>
        </p:spPr>
        <p:txBody>
          <a:bodyPr/>
          <a:lstStyle>
            <a:lvl1pPr marL="0" indent="0">
              <a:buNone/>
              <a:defRPr sz="4956"/>
            </a:lvl1pPr>
            <a:lvl2pPr marL="1416040" indent="0">
              <a:buNone/>
              <a:defRPr sz="4336"/>
            </a:lvl2pPr>
            <a:lvl3pPr marL="2832080" indent="0">
              <a:buNone/>
              <a:defRPr sz="3717"/>
            </a:lvl3pPr>
            <a:lvl4pPr marL="4248120" indent="0">
              <a:buNone/>
              <a:defRPr sz="3097"/>
            </a:lvl4pPr>
            <a:lvl5pPr marL="5664159" indent="0">
              <a:buNone/>
              <a:defRPr sz="3097"/>
            </a:lvl5pPr>
            <a:lvl6pPr marL="7080199" indent="0">
              <a:buNone/>
              <a:defRPr sz="3097"/>
            </a:lvl6pPr>
            <a:lvl7pPr marL="8496239" indent="0">
              <a:buNone/>
              <a:defRPr sz="3097"/>
            </a:lvl7pPr>
            <a:lvl8pPr marL="9912279" indent="0">
              <a:buNone/>
              <a:defRPr sz="3097"/>
            </a:lvl8pPr>
            <a:lvl9pPr marL="11328319" indent="0">
              <a:buNone/>
              <a:defRPr sz="3097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09/02/69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208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09/02/69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5414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1130873"/>
            <a:ext cx="6520562" cy="18000554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1130873"/>
            <a:ext cx="19183683" cy="18000554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552E4-3F55-3F49-ACFC-8D09D04B75A7}" type="datetimeFigureOut">
              <a:rPr lang="th-TH" smtClean="0"/>
              <a:t>09/02/69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D74E7-5C61-B541-B4BD-E853D14C771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7298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รูปภาพ 7" descr="รูปภาพประกอบด้วย ภาพหน้าจอ, คอมพิวเตอร์, สี่เหลี่ยมผืนผ้า, ข้อความ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40572B02-58D4-DDE6-2252-D9BD9844984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" y="-41572"/>
            <a:ext cx="30193542" cy="2131532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1130878"/>
            <a:ext cx="26082248" cy="410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dirty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5654366"/>
            <a:ext cx="26082248" cy="13477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dirty="0"/>
              <a:t>คลิกเพื่อแก้ไขสไตล์ของข้อความต้นแบบ</a:t>
            </a:r>
          </a:p>
          <a:p>
            <a:pPr lvl="1"/>
            <a:r>
              <a:rPr lang="th-TH" dirty="0"/>
              <a:t>ระดับที่สอง</a:t>
            </a:r>
          </a:p>
          <a:p>
            <a:pPr lvl="2"/>
            <a:r>
              <a:rPr lang="th-TH" dirty="0"/>
              <a:t>ระดับที่สาม</a:t>
            </a:r>
          </a:p>
          <a:p>
            <a:pPr lvl="3"/>
            <a:r>
              <a:rPr lang="th-TH" dirty="0"/>
              <a:t>ระดับที่สี่</a:t>
            </a:r>
          </a:p>
          <a:p>
            <a:pPr lvl="4"/>
            <a:r>
              <a:rPr lang="th-TH" dirty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19687033"/>
            <a:ext cx="6804065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17">
                <a:solidFill>
                  <a:schemeClr val="tx1">
                    <a:tint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defRPr>
            </a:lvl1pPr>
          </a:lstStyle>
          <a:p>
            <a:fld id="{69C552E4-3F55-3F49-ACFC-8D09D04B75A7}" type="datetimeFigureOut">
              <a:rPr lang="th-TH" smtClean="0"/>
              <a:pPr/>
              <a:t>09/02/69</a:t>
            </a:fld>
            <a:endParaRPr lang="th-T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19687033"/>
            <a:ext cx="10206097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17">
                <a:solidFill>
                  <a:schemeClr val="tx1">
                    <a:tint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defRPr>
            </a:lvl1pPr>
          </a:lstStyle>
          <a:p>
            <a:endParaRPr lang="th-T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19687033"/>
            <a:ext cx="6804065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17">
                <a:solidFill>
                  <a:schemeClr val="tx1">
                    <a:tint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defRPr>
            </a:lvl1pPr>
          </a:lstStyle>
          <a:p>
            <a:fld id="{401D74E7-5C61-B541-B4BD-E853D14C771B}" type="slidenum">
              <a:rPr lang="th-TH" smtClean="0"/>
              <a:pPr/>
              <a:t>‹#›</a:t>
            </a:fld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451595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32080" rtl="0" eaLnBrk="1" latinLnBrk="0" hangingPunct="1">
        <a:lnSpc>
          <a:spcPct val="90000"/>
        </a:lnSpc>
        <a:spcBef>
          <a:spcPct val="0"/>
        </a:spcBef>
        <a:buNone/>
        <a:defRPr sz="13628" kern="1200">
          <a:solidFill>
            <a:schemeClr val="tx1"/>
          </a:solidFill>
          <a:latin typeface="DB Heavent" panose="02000506060000020004" pitchFamily="2" charset="-34"/>
          <a:ea typeface="+mj-ea"/>
          <a:cs typeface="DB Heavent" panose="02000506060000020004" pitchFamily="2" charset="-34"/>
        </a:defRPr>
      </a:lvl1pPr>
    </p:titleStyle>
    <p:bodyStyle>
      <a:lvl1pPr marL="708020" indent="-708020" algn="l" defTabSz="2832080" rtl="0" eaLnBrk="1" latinLnBrk="0" hangingPunct="1">
        <a:lnSpc>
          <a:spcPct val="90000"/>
        </a:lnSpc>
        <a:spcBef>
          <a:spcPts val="3097"/>
        </a:spcBef>
        <a:buFont typeface="Arial" panose="020B0604020202020204" pitchFamily="34" charset="0"/>
        <a:buChar char="•"/>
        <a:defRPr sz="8672" kern="1200">
          <a:solidFill>
            <a:schemeClr val="tx1"/>
          </a:solidFill>
          <a:latin typeface="DB Heavent" panose="02000506060000020004" pitchFamily="2" charset="-34"/>
          <a:ea typeface="+mn-ea"/>
          <a:cs typeface="DB Heavent" panose="02000506060000020004" pitchFamily="2" charset="-34"/>
        </a:defRPr>
      </a:lvl1pPr>
      <a:lvl2pPr marL="2124060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7433" kern="1200">
          <a:solidFill>
            <a:schemeClr val="tx1"/>
          </a:solidFill>
          <a:latin typeface="DB Heavent" panose="02000506060000020004" pitchFamily="2" charset="-34"/>
          <a:ea typeface="+mn-ea"/>
          <a:cs typeface="DB Heavent" panose="02000506060000020004" pitchFamily="2" charset="-34"/>
        </a:defRPr>
      </a:lvl2pPr>
      <a:lvl3pPr marL="3540100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6194" kern="1200">
          <a:solidFill>
            <a:schemeClr val="tx1"/>
          </a:solidFill>
          <a:latin typeface="DB Heavent" panose="02000506060000020004" pitchFamily="2" charset="-34"/>
          <a:ea typeface="+mn-ea"/>
          <a:cs typeface="DB Heavent" panose="02000506060000020004" pitchFamily="2" charset="-34"/>
        </a:defRPr>
      </a:lvl3pPr>
      <a:lvl4pPr marL="4956139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5575" kern="1200">
          <a:solidFill>
            <a:schemeClr val="tx1"/>
          </a:solidFill>
          <a:latin typeface="DB Heavent" panose="02000506060000020004" pitchFamily="2" charset="-34"/>
          <a:ea typeface="+mn-ea"/>
          <a:cs typeface="DB Heavent" panose="02000506060000020004" pitchFamily="2" charset="-34"/>
        </a:defRPr>
      </a:lvl4pPr>
      <a:lvl5pPr marL="6372179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5575" kern="1200">
          <a:solidFill>
            <a:schemeClr val="tx1"/>
          </a:solidFill>
          <a:latin typeface="DB Heavent" panose="02000506060000020004" pitchFamily="2" charset="-34"/>
          <a:ea typeface="+mn-ea"/>
          <a:cs typeface="DB Heavent" panose="02000506060000020004" pitchFamily="2" charset="-34"/>
        </a:defRPr>
      </a:lvl5pPr>
      <a:lvl6pPr marL="7788219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5575" kern="1200">
          <a:solidFill>
            <a:schemeClr val="tx1"/>
          </a:solidFill>
          <a:latin typeface="+mn-lt"/>
          <a:ea typeface="+mn-ea"/>
          <a:cs typeface="+mn-cs"/>
        </a:defRPr>
      </a:lvl6pPr>
      <a:lvl7pPr marL="9204259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5575" kern="1200">
          <a:solidFill>
            <a:schemeClr val="tx1"/>
          </a:solidFill>
          <a:latin typeface="+mn-lt"/>
          <a:ea typeface="+mn-ea"/>
          <a:cs typeface="+mn-cs"/>
        </a:defRPr>
      </a:lvl7pPr>
      <a:lvl8pPr marL="10620299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5575" kern="1200">
          <a:solidFill>
            <a:schemeClr val="tx1"/>
          </a:solidFill>
          <a:latin typeface="+mn-lt"/>
          <a:ea typeface="+mn-ea"/>
          <a:cs typeface="+mn-cs"/>
        </a:defRPr>
      </a:lvl8pPr>
      <a:lvl9pPr marL="12036339" indent="-708020" algn="l" defTabSz="283208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5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1pPr>
      <a:lvl2pPr marL="1416040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2pPr>
      <a:lvl3pPr marL="2832080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3pPr>
      <a:lvl4pPr marL="4248120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4pPr>
      <a:lvl5pPr marL="5664159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5pPr>
      <a:lvl6pPr marL="7080199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6pPr>
      <a:lvl7pPr marL="8496239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7pPr>
      <a:lvl8pPr marL="9912279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8pPr>
      <a:lvl9pPr marL="11328319" algn="l" defTabSz="2832080" rtl="0" eaLnBrk="1" latinLnBrk="0" hangingPunct="1">
        <a:defRPr sz="5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62FEA5-3B8E-1C18-A9B5-2FEBB627FADB}"/>
              </a:ext>
            </a:extLst>
          </p:cNvPr>
          <p:cNvSpPr txBox="1"/>
          <p:nvPr/>
        </p:nvSpPr>
        <p:spPr>
          <a:xfrm>
            <a:off x="1571276" y="3967974"/>
            <a:ext cx="13922711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Abstraction</a:t>
            </a:r>
          </a:p>
          <a:p>
            <a:pPr algn="thaiDist"/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Maternal care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is a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foundational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form of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altruism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, yet the mechanisms by which prosocial strategies emerge and persist remain unclear. This thesis proposes a computational framework that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integrates physiological, psychological, and neuroendocrine-inspired internal states dynamics within an evolutionary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agent-based model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to investigate the emergence of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“maternal altruism”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.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Mother agents operate through a hierarchical cascade from genetic traits -&gt; perception -&gt; internal state modulation -&gt; motivation -&gt; action, in which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maternal bond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strength regulates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stimulus interpretation through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allostatic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control. Child agents are immobile and communicate exclusively via distance-dependent distress signals, creating an asymmetric caregiving dynamic. Using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spatial grid-world simulations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with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multiple family units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, mothers inherit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genetically encoded traits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(altruism, kin bias, nurture threshold, threat sensitivity), and populations evolve under varying levels of resource availability, predation pressure, and population density.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B451F-1E1A-9442-F255-771C80D6709B}"/>
              </a:ext>
            </a:extLst>
          </p:cNvPr>
          <p:cNvSpPr txBox="1"/>
          <p:nvPr/>
        </p:nvSpPr>
        <p:spPr>
          <a:xfrm>
            <a:off x="1559859" y="2273726"/>
            <a:ext cx="129446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atin typeface="DB Heavent" panose="02000506060000020004" pitchFamily="2" charset="-34"/>
                <a:cs typeface="DB Heavent" panose="02000506060000020004" pitchFamily="2" charset="-34"/>
              </a:rPr>
              <a:t>Simulation of “</a:t>
            </a:r>
            <a:r>
              <a:rPr lang="en-US" sz="9600" b="1" i="1" dirty="0">
                <a:latin typeface="DB Heavent" panose="02000506060000020004" pitchFamily="2" charset="-34"/>
                <a:cs typeface="DB Heavent" panose="02000506060000020004" pitchFamily="2" charset="-34"/>
              </a:rPr>
              <a:t>Maternal Instinct”</a:t>
            </a:r>
            <a:endParaRPr lang="en-US" sz="96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3559D-761B-F943-9C10-B404BD6F78A1}"/>
              </a:ext>
            </a:extLst>
          </p:cNvPr>
          <p:cNvSpPr txBox="1"/>
          <p:nvPr/>
        </p:nvSpPr>
        <p:spPr>
          <a:xfrm>
            <a:off x="7985502" y="758269"/>
            <a:ext cx="189248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DB Heavent" panose="02000506060000020004" pitchFamily="2" charset="-34"/>
                <a:cs typeface="DB Heavent" panose="02000506060000020004" pitchFamily="2" charset="-34"/>
              </a:rPr>
              <a:t>Author : Napat </a:t>
            </a:r>
            <a:r>
              <a:rPr lang="en-US" sz="4800" b="1" dirty="0" err="1">
                <a:latin typeface="DB Heavent" panose="02000506060000020004" pitchFamily="2" charset="-34"/>
                <a:cs typeface="DB Heavent" panose="02000506060000020004" pitchFamily="2" charset="-34"/>
              </a:rPr>
              <a:t>Aeimwiratchai</a:t>
            </a:r>
            <a:r>
              <a:rPr lang="en-US" sz="4800" b="1" dirty="0">
                <a:latin typeface="DB Heavent" panose="02000506060000020004" pitchFamily="2" charset="-34"/>
                <a:cs typeface="DB Heavent" panose="02000506060000020004" pitchFamily="2" charset="-34"/>
              </a:rPr>
              <a:t>		|	Email : napat.aeim@gmail.com 	|	Tel : 088-871-5110</a:t>
            </a:r>
          </a:p>
          <a:p>
            <a:r>
              <a:rPr lang="en-US" sz="4800" dirty="0">
                <a:latin typeface="DB Heavent" panose="02000506060000020004" pitchFamily="2" charset="-34"/>
                <a:cs typeface="DB Heavent" panose="02000506060000020004" pitchFamily="2" charset="-34"/>
              </a:rPr>
              <a:t>Advisor : Mr. </a:t>
            </a:r>
            <a:r>
              <a:rPr lang="en-US" sz="4800" dirty="0" err="1">
                <a:latin typeface="DB Heavent" panose="02000506060000020004" pitchFamily="2" charset="-34"/>
                <a:cs typeface="DB Heavent" panose="02000506060000020004" pitchFamily="2" charset="-34"/>
              </a:rPr>
              <a:t>Bawornsak</a:t>
            </a:r>
            <a:r>
              <a:rPr lang="en-US" sz="4800" dirty="0"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  <a:r>
              <a:rPr lang="en-US" sz="4800" dirty="0" err="1">
                <a:latin typeface="DB Heavent" panose="02000506060000020004" pitchFamily="2" charset="-34"/>
                <a:cs typeface="DB Heavent" panose="02000506060000020004" pitchFamily="2" charset="-34"/>
              </a:rPr>
              <a:t>Sakulkueakulsuk</a:t>
            </a:r>
            <a:endParaRPr lang="en-US" sz="48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3F4747-98D0-03B8-76BF-4B8F1707C605}"/>
              </a:ext>
            </a:extLst>
          </p:cNvPr>
          <p:cNvSpPr txBox="1"/>
          <p:nvPr/>
        </p:nvSpPr>
        <p:spPr>
          <a:xfrm>
            <a:off x="1559859" y="11109868"/>
            <a:ext cx="139227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Objectives</a:t>
            </a:r>
          </a:p>
          <a:p>
            <a:pPr algn="thaiDist"/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To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develop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and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analyze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an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evolutionary agent-based model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that integrates physiological, psychological, and neuroendocrine-inspired states to explain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how maternal altruistic caregiving emerges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and persists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under environmental pressures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B06BD-4F39-7B06-EFE3-BCB01E4B2430}"/>
              </a:ext>
            </a:extLst>
          </p:cNvPr>
          <p:cNvSpPr txBox="1"/>
          <p:nvPr/>
        </p:nvSpPr>
        <p:spPr>
          <a:xfrm>
            <a:off x="15716225" y="7752338"/>
            <a:ext cx="3556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Methodology</a:t>
            </a:r>
            <a:endParaRPr lang="en-US" sz="36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C958C-635D-135A-CC58-D3E69218D916}"/>
              </a:ext>
            </a:extLst>
          </p:cNvPr>
          <p:cNvSpPr txBox="1"/>
          <p:nvPr/>
        </p:nvSpPr>
        <p:spPr>
          <a:xfrm>
            <a:off x="15732990" y="15496581"/>
            <a:ext cx="130689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Current Progress</a:t>
            </a:r>
          </a:p>
          <a:p>
            <a:pPr algn="thaiDist"/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Implemented a mother &amp; child agent architecture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with coupled physiological, psychological, and neuroendocrine states, and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validated adaptive motivation switching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(Protect child, Care, Forage, Self-preservation)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under varying threat and resource conditions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4BB7D6-6E22-DE88-3A9B-9C97260713E0}"/>
              </a:ext>
            </a:extLst>
          </p:cNvPr>
          <p:cNvSpPr txBox="1"/>
          <p:nvPr/>
        </p:nvSpPr>
        <p:spPr>
          <a:xfrm>
            <a:off x="15732990" y="18152058"/>
            <a:ext cx="130689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Next Steps</a:t>
            </a:r>
          </a:p>
          <a:p>
            <a:pPr algn="thaiDist"/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Extend simulations across generations to quantitatively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analyze the evolutionary stability of maternal caregiving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strategies under varying environmental pressures.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5D17DD-ACD9-5BD7-52A4-BEB9EA889566}"/>
              </a:ext>
            </a:extLst>
          </p:cNvPr>
          <p:cNvSpPr txBox="1"/>
          <p:nvPr/>
        </p:nvSpPr>
        <p:spPr>
          <a:xfrm>
            <a:off x="15732990" y="3014187"/>
            <a:ext cx="87454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Motivation Selection in an Organism</a:t>
            </a:r>
            <a:endParaRPr lang="en-US" sz="36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EAE82-26C0-1EB7-81E1-2E633FC734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7" t="8208" r="7701" b="56914"/>
          <a:stretch>
            <a:fillRect/>
          </a:stretch>
        </p:blipFill>
        <p:spPr>
          <a:xfrm>
            <a:off x="15759767" y="8530326"/>
            <a:ext cx="13639825" cy="68961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1C05D3-E918-4ADA-24E1-4D4802EF72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85" r="12467"/>
          <a:stretch>
            <a:fillRect/>
          </a:stretch>
        </p:blipFill>
        <p:spPr>
          <a:xfrm>
            <a:off x="1438394" y="14277664"/>
            <a:ext cx="6392636" cy="47850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DBE0E2-A482-BA73-AF9F-2BB8EA3925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69" t="721" r="8307" b="440"/>
          <a:stretch>
            <a:fillRect/>
          </a:stretch>
        </p:blipFill>
        <p:spPr>
          <a:xfrm>
            <a:off x="8302682" y="14277663"/>
            <a:ext cx="7179888" cy="47850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35A224-9F8A-6CED-8908-B8710B783DE8}"/>
              </a:ext>
            </a:extLst>
          </p:cNvPr>
          <p:cNvSpPr txBox="1"/>
          <p:nvPr/>
        </p:nvSpPr>
        <p:spPr>
          <a:xfrm>
            <a:off x="6436805" y="19352386"/>
            <a:ext cx="3190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DB Heavent" panose="02000506060000020004" pitchFamily="2" charset="-34"/>
                <a:cs typeface="DB Heavent" panose="02000506060000020004" pitchFamily="2" charset="-34"/>
              </a:rPr>
              <a:t>Scenario Test</a:t>
            </a:r>
            <a:endParaRPr lang="en-US" sz="3200" b="1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19" name="AutoShape 2" descr="รหัสคิวอาร์ - วิกิพีเดีย">
            <a:extLst>
              <a:ext uri="{FF2B5EF4-FFF2-40B4-BE49-F238E27FC236}">
                <a16:creationId xmlns:a16="http://schemas.microsoft.com/office/drawing/2014/main" id="{9B9BD41F-36CB-DE5E-CA54-13BBE6B2E6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966950" y="104679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รหัสคิวอาร์ - วิกิพีเดีย">
            <a:extLst>
              <a:ext uri="{FF2B5EF4-FFF2-40B4-BE49-F238E27FC236}">
                <a16:creationId xmlns:a16="http://schemas.microsoft.com/office/drawing/2014/main" id="{6EAE4551-AB34-ED16-8CB7-09DB15AAB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4800" y="758269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31A12C8-CE63-EEB4-5081-778260832B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12" t="20723" r="4833" b="22126"/>
          <a:stretch>
            <a:fillRect/>
          </a:stretch>
        </p:blipFill>
        <p:spPr>
          <a:xfrm>
            <a:off x="16881988" y="3967974"/>
            <a:ext cx="10770908" cy="3828003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D39F0B4D-EB95-D25A-6646-F0DCE7BC0A30}"/>
              </a:ext>
            </a:extLst>
          </p:cNvPr>
          <p:cNvGrpSpPr/>
          <p:nvPr/>
        </p:nvGrpSpPr>
        <p:grpSpPr>
          <a:xfrm>
            <a:off x="27289871" y="2942755"/>
            <a:ext cx="1751108" cy="1559579"/>
            <a:chOff x="25223692" y="1640013"/>
            <a:chExt cx="1751108" cy="155957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D7F052E-33B6-6B8F-D54E-BF2F9666CD4B}"/>
                </a:ext>
              </a:extLst>
            </p:cNvPr>
            <p:cNvSpPr txBox="1"/>
            <p:nvPr/>
          </p:nvSpPr>
          <p:spPr>
            <a:xfrm>
              <a:off x="25223692" y="1640013"/>
              <a:ext cx="17511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latin typeface="DB Heavent" panose="02000506060000020004" pitchFamily="2" charset="-34"/>
                  <a:cs typeface="DB Heavent" panose="02000506060000020004" pitchFamily="2" charset="-34"/>
                </a:rPr>
                <a:t>SCAN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D5D7A8-8229-005A-6401-CA1B38D4546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223692" y="1999263"/>
              <a:ext cx="17511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b="1" dirty="0">
                  <a:latin typeface="DB Heavent" panose="02000506060000020004" pitchFamily="2" charset="-34"/>
                  <a:cs typeface="DB Heavent" panose="02000506060000020004" pitchFamily="2" charset="-34"/>
                </a:rPr>
                <a:t>ME!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123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60F34B-FE3D-B142-1B1E-4FD9A0E75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7D0084-7810-22D7-2583-309ECA61D55F}"/>
              </a:ext>
            </a:extLst>
          </p:cNvPr>
          <p:cNvSpPr txBox="1"/>
          <p:nvPr/>
        </p:nvSpPr>
        <p:spPr>
          <a:xfrm>
            <a:off x="1571276" y="3967974"/>
            <a:ext cx="13922711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Abstraction</a:t>
            </a:r>
          </a:p>
          <a:p>
            <a:pPr algn="thaiDist"/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Maternal care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is a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foundational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form of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altruism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, yet the mechanisms by which prosocial strategies emerge and persist remain unclear. This thesis proposes a computational framework that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integrates physiological, psychological, and neuroendocrine-inspired internal states dynamics within an evolutionary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agent-based model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to investigate the emergence of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“maternal altruism”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.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Mother agents operate through a hierarchical cascade from genetic traits -&gt; perception -&gt; internal state modulation -&gt; motivation -&gt; action, in which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maternal bond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strength regulates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stimulus interpretation through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allostatic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control. Child agents are immobile and communicate exclusively via distance-dependent distress signals, creating an asymmetric caregiving dynamic. Using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spatial grid-world simulations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with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multiple family units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, mothers inherit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genetically encoded traits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(altruism, kin bias, nurture threshold, threat sensitivity), and populations evolve under varying levels of resource availability, predation pressure, and population density.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91987A-559F-DF06-CDB3-E5BCA2616A5E}"/>
              </a:ext>
            </a:extLst>
          </p:cNvPr>
          <p:cNvSpPr txBox="1"/>
          <p:nvPr/>
        </p:nvSpPr>
        <p:spPr>
          <a:xfrm>
            <a:off x="1559859" y="2273726"/>
            <a:ext cx="129446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atin typeface="DB Heavent" panose="02000506060000020004" pitchFamily="2" charset="-34"/>
                <a:cs typeface="DB Heavent" panose="02000506060000020004" pitchFamily="2" charset="-34"/>
              </a:rPr>
              <a:t>Simulation of “</a:t>
            </a:r>
            <a:r>
              <a:rPr lang="en-US" sz="9600" b="1" i="1" dirty="0">
                <a:latin typeface="DB Heavent" panose="02000506060000020004" pitchFamily="2" charset="-34"/>
                <a:cs typeface="DB Heavent" panose="02000506060000020004" pitchFamily="2" charset="-34"/>
              </a:rPr>
              <a:t>Maternal Instinct”</a:t>
            </a:r>
            <a:endParaRPr lang="en-US" sz="96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FE60C2-9DB6-12DF-3DE3-B8E75E0371AC}"/>
              </a:ext>
            </a:extLst>
          </p:cNvPr>
          <p:cNvSpPr txBox="1"/>
          <p:nvPr/>
        </p:nvSpPr>
        <p:spPr>
          <a:xfrm>
            <a:off x="1559859" y="11109868"/>
            <a:ext cx="139227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Objectives</a:t>
            </a:r>
          </a:p>
          <a:p>
            <a:pPr algn="thaiDist"/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To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develop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and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analyze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an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evolutionary agent-based model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that integrates physiological, psychological, and neuroendocrine-inspired states to explain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how maternal altruistic caregiving emerges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and persists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under environmental pressures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32F737-93D2-AA01-98EE-2099E50C44F8}"/>
              </a:ext>
            </a:extLst>
          </p:cNvPr>
          <p:cNvSpPr txBox="1"/>
          <p:nvPr/>
        </p:nvSpPr>
        <p:spPr>
          <a:xfrm>
            <a:off x="15716225" y="7752338"/>
            <a:ext cx="3556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Methodology</a:t>
            </a:r>
            <a:endParaRPr lang="en-US" sz="36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8B9915-73A7-EF28-D920-83E33AB2016D}"/>
              </a:ext>
            </a:extLst>
          </p:cNvPr>
          <p:cNvSpPr txBox="1"/>
          <p:nvPr/>
        </p:nvSpPr>
        <p:spPr>
          <a:xfrm>
            <a:off x="15732990" y="15496581"/>
            <a:ext cx="130689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Current Progress</a:t>
            </a:r>
          </a:p>
          <a:p>
            <a:pPr algn="thaiDist"/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Implemented a mother &amp; child agent architecture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with coupled physiological, psychological, and neuroendocrine states, and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validated adaptive motivation switching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(Protect child, Care, Forage, Self-preservation)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under varying threat and resource conditions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1C20C0-1BA5-19E0-4DDE-3DEB0815D575}"/>
              </a:ext>
            </a:extLst>
          </p:cNvPr>
          <p:cNvSpPr txBox="1"/>
          <p:nvPr/>
        </p:nvSpPr>
        <p:spPr>
          <a:xfrm>
            <a:off x="15732990" y="18152058"/>
            <a:ext cx="130689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Next Steps</a:t>
            </a:r>
          </a:p>
          <a:p>
            <a:pPr algn="thaiDist"/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Extend simulations across generations to quantitatively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analyze the evolutionary stability of maternal caregiving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strategies under varying environmental pressures.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A9FC28-7194-5E78-6CDF-328F0970E43F}"/>
              </a:ext>
            </a:extLst>
          </p:cNvPr>
          <p:cNvSpPr txBox="1"/>
          <p:nvPr/>
        </p:nvSpPr>
        <p:spPr>
          <a:xfrm>
            <a:off x="15732990" y="3014187"/>
            <a:ext cx="87454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Motivation Selection in an Organism</a:t>
            </a:r>
            <a:endParaRPr lang="en-US" sz="36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4440C7-1B62-9E5D-C28E-8C1110423D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7" t="8208" r="7701" b="56914"/>
          <a:stretch>
            <a:fillRect/>
          </a:stretch>
        </p:blipFill>
        <p:spPr>
          <a:xfrm>
            <a:off x="15759767" y="8530326"/>
            <a:ext cx="13639825" cy="68961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8F34DE-B01D-D1CA-59FB-CC781A0BD9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85" r="12467"/>
          <a:stretch>
            <a:fillRect/>
          </a:stretch>
        </p:blipFill>
        <p:spPr>
          <a:xfrm>
            <a:off x="1438394" y="14277664"/>
            <a:ext cx="6392636" cy="47850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1CC455-DDC6-20D5-33EA-84E0202C5F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69" t="721" r="8307" b="440"/>
          <a:stretch>
            <a:fillRect/>
          </a:stretch>
        </p:blipFill>
        <p:spPr>
          <a:xfrm>
            <a:off x="8302682" y="14277663"/>
            <a:ext cx="7179888" cy="47850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8EBB456-EC90-03CB-EAFC-A95DDCA5A7E1}"/>
              </a:ext>
            </a:extLst>
          </p:cNvPr>
          <p:cNvSpPr txBox="1"/>
          <p:nvPr/>
        </p:nvSpPr>
        <p:spPr>
          <a:xfrm>
            <a:off x="6436805" y="19352386"/>
            <a:ext cx="3190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DB Heavent" panose="02000506060000020004" pitchFamily="2" charset="-34"/>
                <a:cs typeface="DB Heavent" panose="02000506060000020004" pitchFamily="2" charset="-34"/>
              </a:rPr>
              <a:t>Scenario Test</a:t>
            </a:r>
            <a:endParaRPr lang="en-US" sz="3200" b="1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19" name="AutoShape 2" descr="รหัสคิวอาร์ - วิกิพีเดีย">
            <a:extLst>
              <a:ext uri="{FF2B5EF4-FFF2-40B4-BE49-F238E27FC236}">
                <a16:creationId xmlns:a16="http://schemas.microsoft.com/office/drawing/2014/main" id="{706496BC-AA81-08AF-AA39-6CB4518A11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966950" y="104679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รหัสคิวอาร์ - วิกิพีเดีย">
            <a:extLst>
              <a:ext uri="{FF2B5EF4-FFF2-40B4-BE49-F238E27FC236}">
                <a16:creationId xmlns:a16="http://schemas.microsoft.com/office/drawing/2014/main" id="{9779D447-484B-3131-4B51-50727903B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4800" y="758269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B06B28-E918-AE79-2ED7-D4838CA75D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12" t="20723" r="4833" b="22126"/>
          <a:stretch>
            <a:fillRect/>
          </a:stretch>
        </p:blipFill>
        <p:spPr>
          <a:xfrm>
            <a:off x="17036117" y="3917507"/>
            <a:ext cx="10770908" cy="3828003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1F1C51F-B300-F076-41FF-998BC22AE67A}"/>
              </a:ext>
            </a:extLst>
          </p:cNvPr>
          <p:cNvGrpSpPr/>
          <p:nvPr/>
        </p:nvGrpSpPr>
        <p:grpSpPr>
          <a:xfrm>
            <a:off x="27289871" y="2942755"/>
            <a:ext cx="1751108" cy="1559579"/>
            <a:chOff x="25223692" y="1640013"/>
            <a:chExt cx="1751108" cy="155957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54D066A-07D6-8659-6370-64C3751EA284}"/>
                </a:ext>
              </a:extLst>
            </p:cNvPr>
            <p:cNvSpPr txBox="1"/>
            <p:nvPr/>
          </p:nvSpPr>
          <p:spPr>
            <a:xfrm>
              <a:off x="25223692" y="1640013"/>
              <a:ext cx="17511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latin typeface="DB Heavent" panose="02000506060000020004" pitchFamily="2" charset="-34"/>
                  <a:cs typeface="DB Heavent" panose="02000506060000020004" pitchFamily="2" charset="-34"/>
                </a:rPr>
                <a:t>SCAN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573632B-9A5D-77CC-AC30-1386F192F9B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223692" y="1999263"/>
              <a:ext cx="17511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b="1" dirty="0">
                  <a:latin typeface="DB Heavent" panose="02000506060000020004" pitchFamily="2" charset="-34"/>
                  <a:cs typeface="DB Heavent" panose="02000506060000020004" pitchFamily="2" charset="-34"/>
                </a:rPr>
                <a:t>ME!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4DB67FA-3625-7301-B676-F0B78863184D}"/>
              </a:ext>
            </a:extLst>
          </p:cNvPr>
          <p:cNvSpPr txBox="1"/>
          <p:nvPr/>
        </p:nvSpPr>
        <p:spPr>
          <a:xfrm>
            <a:off x="7831030" y="766751"/>
            <a:ext cx="18924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DB Heavent" panose="02000506060000020004" pitchFamily="2" charset="-34"/>
                <a:cs typeface="DB Heavent" panose="02000506060000020004" pitchFamily="2" charset="-34"/>
              </a:rPr>
              <a:t>Email : napat.aeim@gmail.com 	|	Tel : 088-871-5110	 |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D3C16-E9A8-BE5A-DEA4-36A35AE1C69B}"/>
              </a:ext>
            </a:extLst>
          </p:cNvPr>
          <p:cNvSpPr txBox="1"/>
          <p:nvPr/>
        </p:nvSpPr>
        <p:spPr>
          <a:xfrm>
            <a:off x="18432351" y="767977"/>
            <a:ext cx="83419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DB Heavent" panose="02000506060000020004" pitchFamily="2" charset="-34"/>
                <a:cs typeface="DB Heavent" panose="02000506060000020004" pitchFamily="2" charset="-34"/>
              </a:rPr>
              <a:t>Author : Napat </a:t>
            </a:r>
            <a:r>
              <a:rPr lang="en-US" sz="4800" b="1" dirty="0" err="1">
                <a:latin typeface="DB Heavent" panose="02000506060000020004" pitchFamily="2" charset="-34"/>
                <a:cs typeface="DB Heavent" panose="02000506060000020004" pitchFamily="2" charset="-34"/>
              </a:rPr>
              <a:t>Aeimwiratchai</a:t>
            </a:r>
            <a:r>
              <a:rPr lang="en-US" sz="4800" b="1" dirty="0">
                <a:latin typeface="DB Heavent" panose="02000506060000020004" pitchFamily="2" charset="-34"/>
                <a:cs typeface="DB Heavent" panose="02000506060000020004" pitchFamily="2" charset="-34"/>
              </a:rPr>
              <a:t>		</a:t>
            </a:r>
          </a:p>
          <a:p>
            <a:r>
              <a:rPr lang="en-US" sz="4800" dirty="0">
                <a:latin typeface="DB Heavent" panose="02000506060000020004" pitchFamily="2" charset="-34"/>
                <a:cs typeface="DB Heavent" panose="02000506060000020004" pitchFamily="2" charset="-34"/>
              </a:rPr>
              <a:t>Advisor : </a:t>
            </a:r>
            <a:r>
              <a:rPr lang="en-US" sz="4800" dirty="0" err="1">
                <a:latin typeface="DB Heavent" panose="02000506060000020004" pitchFamily="2" charset="-34"/>
                <a:cs typeface="DB Heavent" panose="02000506060000020004" pitchFamily="2" charset="-34"/>
              </a:rPr>
              <a:t>Bawornsak</a:t>
            </a:r>
            <a:r>
              <a:rPr lang="en-US" sz="4800" dirty="0"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  <a:r>
              <a:rPr lang="en-US" sz="4800" dirty="0" err="1">
                <a:latin typeface="DB Heavent" panose="02000506060000020004" pitchFamily="2" charset="-34"/>
                <a:cs typeface="DB Heavent" panose="02000506060000020004" pitchFamily="2" charset="-34"/>
              </a:rPr>
              <a:t>Sakulkueakulsuk</a:t>
            </a:r>
            <a:endParaRPr lang="en-US" sz="48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51940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4669-F4C5-A4FB-E411-DFA0E837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6D33BA-08AB-7A9B-27CB-9CF05AAE5102}"/>
              </a:ext>
            </a:extLst>
          </p:cNvPr>
          <p:cNvSpPr txBox="1"/>
          <p:nvPr/>
        </p:nvSpPr>
        <p:spPr>
          <a:xfrm>
            <a:off x="1240550" y="3206755"/>
            <a:ext cx="14160604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Abstraction</a:t>
            </a:r>
          </a:p>
          <a:p>
            <a:pPr algn="thaiDist"/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Maternal care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is a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foundational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form of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altruism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, yet the mechanisms by which prosocial strategies emerge and persist remain unclear. This thesis proposes a computational framework that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integrates physiological, psychological, and neuroendocrine-inspired internal states dynamics within an evolutionary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agent-based model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to investigate the emergence of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“maternal altruism”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.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Mother agents operate through a hierarchical cascade from genetic traits -&gt; perception -&gt; internal state modulation -&gt; motivation -&gt; action, in which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maternal bond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strength regulates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stimulus interpretation through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allostatic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control. Child agents are immobile and communicate exclusively via distance-dependent distress signals, creating an asymmetric caregiving dynamic. Using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spatial grid-world simulations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with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multiple family units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, mothers inherit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genetically encoded traits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and populations evolve under varying levels of resource availability, predation pressure, and population density. This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research explores how maternal caregiving strategies emerge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through evolution rather than explicit programming, advancing understanding of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cooperation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,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prosocial AI design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, and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AI safety.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BA738-4A1C-47D6-F329-1486F39E1A7A}"/>
              </a:ext>
            </a:extLst>
          </p:cNvPr>
          <p:cNvSpPr txBox="1"/>
          <p:nvPr/>
        </p:nvSpPr>
        <p:spPr>
          <a:xfrm>
            <a:off x="1240550" y="1948894"/>
            <a:ext cx="189248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atin typeface="DB Heavent" panose="02000506060000020004" pitchFamily="2" charset="-34"/>
                <a:cs typeface="DB Heavent" panose="02000506060000020004" pitchFamily="2" charset="-34"/>
              </a:rPr>
              <a:t>Simulation of “</a:t>
            </a:r>
            <a:r>
              <a:rPr lang="en-US" sz="9600" b="1" i="1" dirty="0">
                <a:latin typeface="DB Heavent" panose="02000506060000020004" pitchFamily="2" charset="-34"/>
                <a:cs typeface="DB Heavent" panose="02000506060000020004" pitchFamily="2" charset="-34"/>
              </a:rPr>
              <a:t>Maternal Instinct”</a:t>
            </a:r>
            <a:endParaRPr lang="en-US" sz="96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8921A5-4EE9-561C-7695-1FA56D392CFA}"/>
              </a:ext>
            </a:extLst>
          </p:cNvPr>
          <p:cNvSpPr txBox="1"/>
          <p:nvPr/>
        </p:nvSpPr>
        <p:spPr>
          <a:xfrm>
            <a:off x="15716225" y="3331560"/>
            <a:ext cx="132835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Objectives</a:t>
            </a:r>
          </a:p>
          <a:p>
            <a:pPr algn="thaiDist"/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To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develop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and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analyze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an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evolutionary agent-based model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that integrates physiological, psychological, and neuroendocrine-inspired states to explain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how maternal altruistic caregiving emerges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and persists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under environmental pressures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355C5C-D715-025A-8E5E-83F0B14FD01D}"/>
              </a:ext>
            </a:extLst>
          </p:cNvPr>
          <p:cNvSpPr txBox="1"/>
          <p:nvPr/>
        </p:nvSpPr>
        <p:spPr>
          <a:xfrm>
            <a:off x="15716225" y="6142526"/>
            <a:ext cx="3556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Methodology</a:t>
            </a:r>
            <a:endParaRPr lang="en-US" sz="36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6D6A9A-B1FD-4DF7-D99B-602379CE322A}"/>
              </a:ext>
            </a:extLst>
          </p:cNvPr>
          <p:cNvSpPr txBox="1"/>
          <p:nvPr/>
        </p:nvSpPr>
        <p:spPr>
          <a:xfrm>
            <a:off x="1240550" y="15467722"/>
            <a:ext cx="141606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Current Progress</a:t>
            </a:r>
          </a:p>
          <a:p>
            <a:pPr algn="thaiDist"/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Implemented a mother &amp; child agent architecture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 with coupled physiological, psychological, and neuroendocrine states, and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validated adaptive motivation switching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(Protect child, Care, Forage, Self-preservation)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under varying threat and resource conditions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4AE93C-FB54-A378-4527-299F0DD85E2C}"/>
              </a:ext>
            </a:extLst>
          </p:cNvPr>
          <p:cNvSpPr txBox="1"/>
          <p:nvPr/>
        </p:nvSpPr>
        <p:spPr>
          <a:xfrm>
            <a:off x="1240550" y="18144474"/>
            <a:ext cx="141606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thaiDist"/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Next Steps</a:t>
            </a:r>
          </a:p>
          <a:p>
            <a:pPr algn="thaiDist"/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Extend simulations across generations to quantitatively </a:t>
            </a:r>
            <a:r>
              <a:rPr lang="en-US" sz="3600" b="1" dirty="0">
                <a:latin typeface="DB Heavent" panose="02000506060000020004" pitchFamily="2" charset="-34"/>
                <a:cs typeface="DB Heavent" panose="02000506060000020004" pitchFamily="2" charset="-34"/>
              </a:rPr>
              <a:t>analyze the evolutionary stability of maternal caregiving </a:t>
            </a:r>
            <a:r>
              <a:rPr lang="en-US" sz="3600" dirty="0">
                <a:latin typeface="DB Heavent" panose="02000506060000020004" pitchFamily="2" charset="-34"/>
                <a:cs typeface="DB Heavent" panose="02000506060000020004" pitchFamily="2" charset="-34"/>
              </a:rPr>
              <a:t>strategies under varying environmental pressures.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CDB2B6-5E85-FB28-4E2C-BE241AF509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7" t="8208" r="7701" b="56914"/>
          <a:stretch>
            <a:fillRect/>
          </a:stretch>
        </p:blipFill>
        <p:spPr>
          <a:xfrm>
            <a:off x="15716225" y="6920514"/>
            <a:ext cx="13639825" cy="6896101"/>
          </a:xfrm>
          <a:prstGeom prst="rect">
            <a:avLst/>
          </a:prstGeom>
        </p:spPr>
      </p:pic>
      <p:sp>
        <p:nvSpPr>
          <p:cNvPr id="19" name="AutoShape 2" descr="รหัสคิวอาร์ - วิกิพีเดีย">
            <a:extLst>
              <a:ext uri="{FF2B5EF4-FFF2-40B4-BE49-F238E27FC236}">
                <a16:creationId xmlns:a16="http://schemas.microsoft.com/office/drawing/2014/main" id="{2C1436BD-2C0D-AAC0-8723-AE4C20264B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966950" y="104679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รหัสคิวอาร์ - วิกิพีเดีย">
            <a:extLst>
              <a:ext uri="{FF2B5EF4-FFF2-40B4-BE49-F238E27FC236}">
                <a16:creationId xmlns:a16="http://schemas.microsoft.com/office/drawing/2014/main" id="{D9D2CBA6-5F0D-0B9F-3EB0-3CD131CC4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7675" y="643969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7D7A8-1D61-33F6-0435-E11FE3B2A24C}"/>
              </a:ext>
            </a:extLst>
          </p:cNvPr>
          <p:cNvSpPr txBox="1"/>
          <p:nvPr/>
        </p:nvSpPr>
        <p:spPr>
          <a:xfrm>
            <a:off x="1240550" y="10692414"/>
            <a:ext cx="8865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Motivation Selection in an Organism</a:t>
            </a:r>
            <a:endParaRPr lang="en-US" sz="36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B489D-092F-8498-447F-695BE23CF2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12" t="20723" r="4833" b="22126"/>
          <a:stretch>
            <a:fillRect/>
          </a:stretch>
        </p:blipFill>
        <p:spPr>
          <a:xfrm>
            <a:off x="2796806" y="11570582"/>
            <a:ext cx="10918687" cy="38280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7FC70A-87A1-9630-C68D-63CD6626B5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84" t="404" r="13005" b="492"/>
          <a:stretch>
            <a:fillRect/>
          </a:stretch>
        </p:blipFill>
        <p:spPr>
          <a:xfrm>
            <a:off x="15811500" y="15125701"/>
            <a:ext cx="6029325" cy="45291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87BD12-07A4-F053-7CDC-8C3C63B812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529" t="1048" r="8620" b="999"/>
          <a:stretch>
            <a:fillRect/>
          </a:stretch>
        </p:blipFill>
        <p:spPr>
          <a:xfrm>
            <a:off x="22367154" y="15125701"/>
            <a:ext cx="6816700" cy="453334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4B433E-6CE7-2875-6C2A-A17C2F9FF356}"/>
              </a:ext>
            </a:extLst>
          </p:cNvPr>
          <p:cNvSpPr txBox="1"/>
          <p:nvPr/>
        </p:nvSpPr>
        <p:spPr>
          <a:xfrm>
            <a:off x="15716225" y="14281710"/>
            <a:ext cx="3309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DB Heavent" panose="02000506060000020004" pitchFamily="2" charset="-34"/>
                <a:cs typeface="DB Heavent" panose="02000506060000020004" pitchFamily="2" charset="-34"/>
              </a:rPr>
              <a:t>Scenario Test</a:t>
            </a:r>
            <a:endParaRPr lang="en-US" sz="3600" b="1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CD0F55-2ED8-4610-7DDC-09EE4CB6A2A7}"/>
              </a:ext>
            </a:extLst>
          </p:cNvPr>
          <p:cNvSpPr txBox="1"/>
          <p:nvPr/>
        </p:nvSpPr>
        <p:spPr>
          <a:xfrm>
            <a:off x="7831030" y="766751"/>
            <a:ext cx="18924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DB Heavent" panose="02000506060000020004" pitchFamily="2" charset="-34"/>
                <a:cs typeface="DB Heavent" panose="02000506060000020004" pitchFamily="2" charset="-34"/>
              </a:rPr>
              <a:t>Email : napat.aeim@gmail.com 	|	Tel : 088-871-5110	 |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538759-F104-4454-47B3-C8E3DF152D3F}"/>
              </a:ext>
            </a:extLst>
          </p:cNvPr>
          <p:cNvSpPr txBox="1"/>
          <p:nvPr/>
        </p:nvSpPr>
        <p:spPr>
          <a:xfrm>
            <a:off x="18432351" y="767977"/>
            <a:ext cx="83419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DB Heavent" panose="02000506060000020004" pitchFamily="2" charset="-34"/>
                <a:cs typeface="DB Heavent" panose="02000506060000020004" pitchFamily="2" charset="-34"/>
              </a:rPr>
              <a:t>Author : Napat </a:t>
            </a:r>
            <a:r>
              <a:rPr lang="en-US" sz="4800" b="1" dirty="0" err="1">
                <a:latin typeface="DB Heavent" panose="02000506060000020004" pitchFamily="2" charset="-34"/>
                <a:cs typeface="DB Heavent" panose="02000506060000020004" pitchFamily="2" charset="-34"/>
              </a:rPr>
              <a:t>Aeimwiratchai</a:t>
            </a:r>
            <a:r>
              <a:rPr lang="en-US" sz="4800" b="1" dirty="0">
                <a:latin typeface="DB Heavent" panose="02000506060000020004" pitchFamily="2" charset="-34"/>
                <a:cs typeface="DB Heavent" panose="02000506060000020004" pitchFamily="2" charset="-34"/>
              </a:rPr>
              <a:t>		</a:t>
            </a:r>
          </a:p>
          <a:p>
            <a:r>
              <a:rPr lang="en-US" sz="4800" dirty="0">
                <a:latin typeface="DB Heavent" panose="02000506060000020004" pitchFamily="2" charset="-34"/>
                <a:cs typeface="DB Heavent" panose="02000506060000020004" pitchFamily="2" charset="-34"/>
              </a:rPr>
              <a:t>Advisor : </a:t>
            </a:r>
            <a:r>
              <a:rPr lang="en-US" sz="4800" dirty="0" err="1">
                <a:latin typeface="DB Heavent" panose="02000506060000020004" pitchFamily="2" charset="-34"/>
                <a:cs typeface="DB Heavent" panose="02000506060000020004" pitchFamily="2" charset="-34"/>
              </a:rPr>
              <a:t>Bawornsak</a:t>
            </a:r>
            <a:r>
              <a:rPr lang="en-US" sz="4800" dirty="0">
                <a:latin typeface="DB Heavent" panose="02000506060000020004" pitchFamily="2" charset="-34"/>
                <a:cs typeface="DB Heavent" panose="02000506060000020004" pitchFamily="2" charset="-34"/>
              </a:rPr>
              <a:t> </a:t>
            </a:r>
            <a:r>
              <a:rPr lang="en-US" sz="4800" dirty="0" err="1">
                <a:latin typeface="DB Heavent" panose="02000506060000020004" pitchFamily="2" charset="-34"/>
                <a:cs typeface="DB Heavent" panose="02000506060000020004" pitchFamily="2" charset="-34"/>
              </a:rPr>
              <a:t>Sakulkueakulsuk</a:t>
            </a:r>
            <a:endParaRPr lang="en-US" sz="4800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0E944B-14F3-D49D-7F05-6797A96DB969}"/>
              </a:ext>
            </a:extLst>
          </p:cNvPr>
          <p:cNvSpPr txBox="1"/>
          <p:nvPr/>
        </p:nvSpPr>
        <p:spPr>
          <a:xfrm>
            <a:off x="25641300" y="2785294"/>
            <a:ext cx="3714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accent2">
                    <a:lumMod val="75000"/>
                  </a:schemeClr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SENIOR THESIS</a:t>
            </a:r>
          </a:p>
        </p:txBody>
      </p:sp>
    </p:spTree>
    <p:extLst>
      <p:ext uri="{BB962C8B-B14F-4D97-AF65-F5344CB8AC3E}">
        <p14:creationId xmlns:p14="http://schemas.microsoft.com/office/powerpoint/2010/main" val="2377484114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5a5cbc-fde1-4d80-8810-b7e22e5513a0">
      <Terms xmlns="http://schemas.microsoft.com/office/infopath/2007/PartnerControls"/>
    </lcf76f155ced4ddcb4097134ff3c332f>
    <TaxCatchAll xmlns="e2250ebc-9c98-4097-8fc2-6468819c889e" xsi:nil="true"/>
    <_Flow_SignoffStatus xmlns="ed5a5cbc-fde1-4d80-8810-b7e22e5513a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0B610FB1ED904D8E4E2030520903CD" ma:contentTypeVersion="17" ma:contentTypeDescription="Create a new document." ma:contentTypeScope="" ma:versionID="c4ee274d10bea4f1083c5ab3f4575349">
  <xsd:schema xmlns:xsd="http://www.w3.org/2001/XMLSchema" xmlns:xs="http://www.w3.org/2001/XMLSchema" xmlns:p="http://schemas.microsoft.com/office/2006/metadata/properties" xmlns:ns2="ed5a5cbc-fde1-4d80-8810-b7e22e5513a0" xmlns:ns3="e2250ebc-9c98-4097-8fc2-6468819c889e" targetNamespace="http://schemas.microsoft.com/office/2006/metadata/properties" ma:root="true" ma:fieldsID="0f9c69bd5e5ac2fc85b3283de8c01e72" ns2:_="" ns3:_="">
    <xsd:import namespace="ed5a5cbc-fde1-4d80-8810-b7e22e5513a0"/>
    <xsd:import namespace="e2250ebc-9c98-4097-8fc2-6468819c88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5a5cbc-fde1-4d80-8810-b7e22e5513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_Flow_SignoffStatus" ma:index="17" nillable="true" ma:displayName="สถานะการปิดงาน" ma:internalName="_x0e2a__x0e16__x0e32__x0e19__x0e30__x0e01__x0e32__x0e23__x0e1b__x0e34__x0e14__x0e07__x0e32__x0e19_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5a6edc0-792c-424b-9cdf-c7b9dae503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250ebc-9c98-4097-8fc2-6468819c889e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9c386f31-5080-4e93-993e-4bab79935afc}" ma:internalName="TaxCatchAll" ma:showField="CatchAllData" ma:web="e2250ebc-9c98-4097-8fc2-6468819c88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37BAD3-F7AD-47C4-8CC8-4F313BBCBB8C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terms/"/>
    <ds:schemaRef ds:uri="e2250ebc-9c98-4097-8fc2-6468819c889e"/>
    <ds:schemaRef ds:uri="ed5a5cbc-fde1-4d80-8810-b7e22e5513a0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1A7F012-0E0F-4CA2-A969-F17BE706A2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178000-8BD7-460F-BBF6-5E7D8A9CC6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5a5cbc-fde1-4d80-8810-b7e22e5513a0"/>
    <ds:schemaRef ds:uri="e2250ebc-9c98-4097-8fc2-6468819c88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393</TotalTime>
  <Words>874</Words>
  <Application>Microsoft Office PowerPoint</Application>
  <PresentationFormat>Custom</PresentationFormat>
  <Paragraphs>49</Paragraphs>
  <Slides>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DB Heavent</vt:lpstr>
      <vt:lpstr>ธีมของ Office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jariya sangpech</dc:creator>
  <cp:lastModifiedBy>Fu Aeim</cp:lastModifiedBy>
  <cp:revision>10</cp:revision>
  <dcterms:created xsi:type="dcterms:W3CDTF">2023-11-22T08:51:41Z</dcterms:created>
  <dcterms:modified xsi:type="dcterms:W3CDTF">2026-02-09T10:26:32Z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0x010100200B610FB1ED904D8E4E2030520903CD</vt:lpwstr>
  </property>
</Properties>
</file>